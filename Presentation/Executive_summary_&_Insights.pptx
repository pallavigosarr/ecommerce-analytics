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1"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27DA6C8-52E2-4E76-A272-5051027A27EF}" type="datetimeFigureOut">
              <a:rPr lang="en-IN" smtClean="0"/>
              <a:t>20-06-2026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2151D4A-9505-43A4-A7B4-52CDD71768CB}" type="slidenum">
              <a:rPr lang="en-IN" smtClean="0"/>
              <a:t>‹#›</a:t>
            </a:fld>
            <a:endParaRPr lang="en-IN" dirty="0"/>
          </a:p>
        </p:txBody>
      </p:sp>
    </p:spTree>
    <p:extLst>
      <p:ext uri="{BB962C8B-B14F-4D97-AF65-F5344CB8AC3E}">
        <p14:creationId xmlns:p14="http://schemas.microsoft.com/office/powerpoint/2010/main" val="2178933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27DA6C8-52E2-4E76-A272-5051027A27EF}" type="datetimeFigureOut">
              <a:rPr lang="en-IN" smtClean="0"/>
              <a:t>20-06-2026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2151D4A-9505-43A4-A7B4-52CDD71768CB}" type="slidenum">
              <a:rPr lang="en-IN" smtClean="0"/>
              <a:t>‹#›</a:t>
            </a:fld>
            <a:endParaRPr lang="en-IN" dirty="0"/>
          </a:p>
        </p:txBody>
      </p:sp>
    </p:spTree>
    <p:extLst>
      <p:ext uri="{BB962C8B-B14F-4D97-AF65-F5344CB8AC3E}">
        <p14:creationId xmlns:p14="http://schemas.microsoft.com/office/powerpoint/2010/main" val="53460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7DA6C8-52E2-4E76-A272-5051027A27EF}" type="datetimeFigureOut">
              <a:rPr lang="en-IN" smtClean="0"/>
              <a:t>20-06-2026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2151D4A-9505-43A4-A7B4-52CDD71768CB}" type="slidenum">
              <a:rPr lang="en-IN" smtClean="0"/>
              <a:t>‹#›</a:t>
            </a:fld>
            <a:endParaRPr lang="en-IN" dirty="0"/>
          </a:p>
        </p:txBody>
      </p:sp>
    </p:spTree>
    <p:extLst>
      <p:ext uri="{BB962C8B-B14F-4D97-AF65-F5344CB8AC3E}">
        <p14:creationId xmlns:p14="http://schemas.microsoft.com/office/powerpoint/2010/main" val="1241694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27DA6C8-52E2-4E76-A272-5051027A27EF}" type="datetimeFigureOut">
              <a:rPr lang="en-IN" smtClean="0"/>
              <a:t>20-06-2026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2151D4A-9505-43A4-A7B4-52CDD71768CB}" type="slidenum">
              <a:rPr lang="en-IN" smtClean="0"/>
              <a:t>‹#›</a:t>
            </a:fld>
            <a:endParaRPr lang="en-IN" dirty="0"/>
          </a:p>
        </p:txBody>
      </p:sp>
    </p:spTree>
    <p:extLst>
      <p:ext uri="{BB962C8B-B14F-4D97-AF65-F5344CB8AC3E}">
        <p14:creationId xmlns:p14="http://schemas.microsoft.com/office/powerpoint/2010/main" val="3072591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27DA6C8-52E2-4E76-A272-5051027A27EF}" type="datetimeFigureOut">
              <a:rPr lang="en-IN" smtClean="0"/>
              <a:t>20-06-2026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2151D4A-9505-43A4-A7B4-52CDD71768CB}" type="slidenum">
              <a:rPr lang="en-IN" smtClean="0"/>
              <a:t>‹#›</a:t>
            </a:fld>
            <a:endParaRPr lang="en-IN" dirty="0"/>
          </a:p>
        </p:txBody>
      </p:sp>
    </p:spTree>
    <p:extLst>
      <p:ext uri="{BB962C8B-B14F-4D97-AF65-F5344CB8AC3E}">
        <p14:creationId xmlns:p14="http://schemas.microsoft.com/office/powerpoint/2010/main" val="738281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27DA6C8-52E2-4E76-A272-5051027A27EF}" type="datetimeFigureOut">
              <a:rPr lang="en-IN" smtClean="0"/>
              <a:t>20-06-2026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2151D4A-9505-43A4-A7B4-52CDD71768CB}" type="slidenum">
              <a:rPr lang="en-IN" smtClean="0"/>
              <a:t>‹#›</a:t>
            </a:fld>
            <a:endParaRPr lang="en-IN" dirty="0"/>
          </a:p>
        </p:txBody>
      </p:sp>
    </p:spTree>
    <p:extLst>
      <p:ext uri="{BB962C8B-B14F-4D97-AF65-F5344CB8AC3E}">
        <p14:creationId xmlns:p14="http://schemas.microsoft.com/office/powerpoint/2010/main" val="1048686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DA6C8-52E2-4E76-A272-5051027A27EF}" type="datetimeFigureOut">
              <a:rPr lang="en-IN" smtClean="0"/>
              <a:t>20-06-2026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2151D4A-9505-43A4-A7B4-52CDD71768CB}" type="slidenum">
              <a:rPr lang="en-IN" smtClean="0"/>
              <a:t>‹#›</a:t>
            </a:fld>
            <a:endParaRPr lang="en-IN" dirty="0"/>
          </a:p>
        </p:txBody>
      </p:sp>
    </p:spTree>
    <p:extLst>
      <p:ext uri="{BB962C8B-B14F-4D97-AF65-F5344CB8AC3E}">
        <p14:creationId xmlns:p14="http://schemas.microsoft.com/office/powerpoint/2010/main" val="1952558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7DA6C8-52E2-4E76-A272-5051027A27EF}" type="datetimeFigureOut">
              <a:rPr lang="en-IN" smtClean="0"/>
              <a:t>20-06-2026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2151D4A-9505-43A4-A7B4-52CDD71768CB}" type="slidenum">
              <a:rPr lang="en-IN" smtClean="0"/>
              <a:t>‹#›</a:t>
            </a:fld>
            <a:endParaRPr lang="en-IN" dirty="0"/>
          </a:p>
        </p:txBody>
      </p:sp>
    </p:spTree>
    <p:extLst>
      <p:ext uri="{BB962C8B-B14F-4D97-AF65-F5344CB8AC3E}">
        <p14:creationId xmlns:p14="http://schemas.microsoft.com/office/powerpoint/2010/main" val="3183998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7DA6C8-52E2-4E76-A272-5051027A27EF}" type="datetimeFigureOut">
              <a:rPr lang="en-IN" smtClean="0"/>
              <a:t>20-06-2026</a:t>
            </a:fld>
            <a:endParaRPr lang="en-IN"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2151D4A-9505-43A4-A7B4-52CDD71768CB}" type="slidenum">
              <a:rPr lang="en-IN" smtClean="0"/>
              <a:t>‹#›</a:t>
            </a:fld>
            <a:endParaRPr lang="en-IN" dirty="0"/>
          </a:p>
        </p:txBody>
      </p:sp>
    </p:spTree>
    <p:extLst>
      <p:ext uri="{BB962C8B-B14F-4D97-AF65-F5344CB8AC3E}">
        <p14:creationId xmlns:p14="http://schemas.microsoft.com/office/powerpoint/2010/main" val="1568673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7DA6C8-52E2-4E76-A272-5051027A27EF}" type="datetimeFigureOut">
              <a:rPr lang="en-IN" smtClean="0"/>
              <a:t>20-06-2026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2151D4A-9505-43A4-A7B4-52CDD71768CB}" type="slidenum">
              <a:rPr lang="en-IN" smtClean="0"/>
              <a:t>‹#›</a:t>
            </a:fld>
            <a:endParaRPr lang="en-IN" dirty="0"/>
          </a:p>
        </p:txBody>
      </p:sp>
    </p:spTree>
    <p:extLst>
      <p:ext uri="{BB962C8B-B14F-4D97-AF65-F5344CB8AC3E}">
        <p14:creationId xmlns:p14="http://schemas.microsoft.com/office/powerpoint/2010/main" val="4197530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7DA6C8-52E2-4E76-A272-5051027A27EF}" type="datetimeFigureOut">
              <a:rPr lang="en-IN" smtClean="0"/>
              <a:t>20-06-2026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2151D4A-9505-43A4-A7B4-52CDD71768CB}" type="slidenum">
              <a:rPr lang="en-IN" smtClean="0"/>
              <a:t>‹#›</a:t>
            </a:fld>
            <a:endParaRPr lang="en-IN"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76411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27DA6C8-52E2-4E76-A272-5051027A27EF}" type="datetimeFigureOut">
              <a:rPr lang="en-IN" smtClean="0"/>
              <a:t>20-06-2026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2151D4A-9505-43A4-A7B4-52CDD71768CB}" type="slidenum">
              <a:rPr lang="en-IN" smtClean="0"/>
              <a:t>‹#›</a:t>
            </a:fld>
            <a:endParaRPr lang="en-IN" dirty="0"/>
          </a:p>
        </p:txBody>
      </p:sp>
    </p:spTree>
    <p:extLst>
      <p:ext uri="{BB962C8B-B14F-4D97-AF65-F5344CB8AC3E}">
        <p14:creationId xmlns:p14="http://schemas.microsoft.com/office/powerpoint/2010/main" val="3042589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27DA6C8-52E2-4E76-A272-5051027A27EF}" type="datetimeFigureOut">
              <a:rPr lang="en-IN" smtClean="0"/>
              <a:t>20-06-2026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2151D4A-9505-43A4-A7B4-52CDD71768CB}" type="slidenum">
              <a:rPr lang="en-IN" smtClean="0"/>
              <a:t>‹#›</a:t>
            </a:fld>
            <a:endParaRPr lang="en-IN"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7906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27DA6C8-52E2-4E76-A272-5051027A27EF}" type="datetimeFigureOut">
              <a:rPr lang="en-IN" smtClean="0"/>
              <a:t>20-06-2026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2151D4A-9505-43A4-A7B4-52CDD71768CB}" type="slidenum">
              <a:rPr lang="en-IN" smtClean="0"/>
              <a:t>‹#›</a:t>
            </a:fld>
            <a:endParaRPr lang="en-IN" dirty="0"/>
          </a:p>
        </p:txBody>
      </p:sp>
    </p:spTree>
    <p:extLst>
      <p:ext uri="{BB962C8B-B14F-4D97-AF65-F5344CB8AC3E}">
        <p14:creationId xmlns:p14="http://schemas.microsoft.com/office/powerpoint/2010/main" val="33896272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27DA6C8-52E2-4E76-A272-5051027A27EF}" type="datetimeFigureOut">
              <a:rPr lang="en-IN" smtClean="0"/>
              <a:t>20-06-2026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2151D4A-9505-43A4-A7B4-52CDD71768CB}" type="slidenum">
              <a:rPr lang="en-IN" smtClean="0"/>
              <a:t>‹#›</a:t>
            </a:fld>
            <a:endParaRPr lang="en-IN" dirty="0"/>
          </a:p>
        </p:txBody>
      </p:sp>
    </p:spTree>
    <p:extLst>
      <p:ext uri="{BB962C8B-B14F-4D97-AF65-F5344CB8AC3E}">
        <p14:creationId xmlns:p14="http://schemas.microsoft.com/office/powerpoint/2010/main" val="30780611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27DA6C8-52E2-4E76-A272-5051027A27EF}" type="datetimeFigureOut">
              <a:rPr lang="en-IN" smtClean="0"/>
              <a:t>20-06-2026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2151D4A-9505-43A4-A7B4-52CDD71768CB}" type="slidenum">
              <a:rPr lang="en-IN" smtClean="0"/>
              <a:t>‹#›</a:t>
            </a:fld>
            <a:endParaRPr lang="en-IN" dirty="0"/>
          </a:p>
        </p:txBody>
      </p:sp>
    </p:spTree>
    <p:extLst>
      <p:ext uri="{BB962C8B-B14F-4D97-AF65-F5344CB8AC3E}">
        <p14:creationId xmlns:p14="http://schemas.microsoft.com/office/powerpoint/2010/main" val="4010061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27DA6C8-52E2-4E76-A272-5051027A27EF}" type="datetimeFigureOut">
              <a:rPr lang="en-IN" smtClean="0"/>
              <a:t>20-06-2026</a:t>
            </a:fld>
            <a:endParaRPr lang="en-IN"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2151D4A-9505-43A4-A7B4-52CDD71768CB}" type="slidenum">
              <a:rPr lang="en-IN" smtClean="0"/>
              <a:t>‹#›</a:t>
            </a:fld>
            <a:endParaRPr lang="en-IN" dirty="0"/>
          </a:p>
        </p:txBody>
      </p:sp>
    </p:spTree>
    <p:extLst>
      <p:ext uri="{BB962C8B-B14F-4D97-AF65-F5344CB8AC3E}">
        <p14:creationId xmlns:p14="http://schemas.microsoft.com/office/powerpoint/2010/main" val="1946052291"/>
      </p:ext>
    </p:extLst>
  </p:cSld>
  <p:clrMap bg1="lt1" tx1="dk1" bg2="lt2" tx2="dk2" accent1="accent1" accent2="accent2" accent3="accent3" accent4="accent4" accent5="accent5" accent6="accent6" hlink="hlink" folHlink="folHlink"/>
  <p:sldLayoutIdLst>
    <p:sldLayoutId id="2147483952" r:id="rId1"/>
    <p:sldLayoutId id="2147483953" r:id="rId2"/>
    <p:sldLayoutId id="2147483954" r:id="rId3"/>
    <p:sldLayoutId id="2147483955" r:id="rId4"/>
    <p:sldLayoutId id="2147483956" r:id="rId5"/>
    <p:sldLayoutId id="2147483957" r:id="rId6"/>
    <p:sldLayoutId id="2147483958" r:id="rId7"/>
    <p:sldLayoutId id="2147483959" r:id="rId8"/>
    <p:sldLayoutId id="2147483960" r:id="rId9"/>
    <p:sldLayoutId id="2147483961" r:id="rId10"/>
    <p:sldLayoutId id="2147483962" r:id="rId11"/>
    <p:sldLayoutId id="2147483963" r:id="rId12"/>
    <p:sldLayoutId id="2147483964" r:id="rId13"/>
    <p:sldLayoutId id="2147483965" r:id="rId14"/>
    <p:sldLayoutId id="2147483966" r:id="rId15"/>
    <p:sldLayoutId id="214748396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59131" y="759443"/>
            <a:ext cx="9144000" cy="2387600"/>
          </a:xfrm>
        </p:spPr>
        <p:txBody>
          <a:bodyPr>
            <a:normAutofit/>
          </a:bodyPr>
          <a:lstStyle/>
          <a:p>
            <a:r>
              <a:rPr lang="en-US" sz="4800" b="1" dirty="0" smtClean="0"/>
              <a:t>Navigating The Future Of </a:t>
            </a:r>
            <a:br>
              <a:rPr lang="en-US" sz="4800" b="1" dirty="0" smtClean="0"/>
            </a:br>
            <a:r>
              <a:rPr lang="en-US" sz="4800" b="1" dirty="0" smtClean="0"/>
              <a:t>Online Shopping</a:t>
            </a:r>
            <a:endParaRPr lang="en-IN" sz="4800" b="1" dirty="0"/>
          </a:p>
        </p:txBody>
      </p:sp>
      <p:sp>
        <p:nvSpPr>
          <p:cNvPr id="3" name="Subtitle 2"/>
          <p:cNvSpPr>
            <a:spLocks noGrp="1"/>
          </p:cNvSpPr>
          <p:nvPr>
            <p:ph type="subTitle" idx="1"/>
          </p:nvPr>
        </p:nvSpPr>
        <p:spPr>
          <a:xfrm>
            <a:off x="901337" y="3460784"/>
            <a:ext cx="9897291" cy="800145"/>
          </a:xfrm>
        </p:spPr>
        <p:txBody>
          <a:bodyPr>
            <a:noAutofit/>
          </a:bodyPr>
          <a:lstStyle/>
          <a:p>
            <a:r>
              <a:rPr lang="en-US" sz="2600" dirty="0" smtClean="0"/>
              <a:t>Analysis and visualization of sales, Top Products, and Customer Habits</a:t>
            </a:r>
            <a:endParaRPr lang="en-IN" sz="2600" dirty="0"/>
          </a:p>
        </p:txBody>
      </p:sp>
      <p:sp>
        <p:nvSpPr>
          <p:cNvPr id="4" name="Subtitle 2"/>
          <p:cNvSpPr txBox="1">
            <a:spLocks/>
          </p:cNvSpPr>
          <p:nvPr/>
        </p:nvSpPr>
        <p:spPr>
          <a:xfrm>
            <a:off x="1524000" y="4420756"/>
            <a:ext cx="9144000" cy="56501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dirty="0" smtClean="0"/>
              <a:t>By Pallavi Gosar</a:t>
            </a:r>
            <a:endParaRPr lang="en-IN" dirty="0"/>
          </a:p>
        </p:txBody>
      </p:sp>
    </p:spTree>
    <p:extLst>
      <p:ext uri="{BB962C8B-B14F-4D97-AF65-F5344CB8AC3E}">
        <p14:creationId xmlns:p14="http://schemas.microsoft.com/office/powerpoint/2010/main" val="1085011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131" y="169182"/>
            <a:ext cx="10515600" cy="1325563"/>
          </a:xfrm>
        </p:spPr>
        <p:txBody>
          <a:bodyPr/>
          <a:lstStyle/>
          <a:p>
            <a:r>
              <a:rPr lang="en-IN" b="1" dirty="0" smtClean="0"/>
              <a:t>Project Overview</a:t>
            </a:r>
            <a:endParaRPr lang="en-IN" b="1" dirty="0"/>
          </a:p>
        </p:txBody>
      </p:sp>
      <p:sp>
        <p:nvSpPr>
          <p:cNvPr id="3" name="Content Placeholder 2"/>
          <p:cNvSpPr>
            <a:spLocks noGrp="1"/>
          </p:cNvSpPr>
          <p:nvPr>
            <p:ph idx="1"/>
          </p:nvPr>
        </p:nvSpPr>
        <p:spPr>
          <a:xfrm>
            <a:off x="459377" y="1917065"/>
            <a:ext cx="10515600" cy="4351338"/>
          </a:xfrm>
        </p:spPr>
        <p:txBody>
          <a:bodyPr/>
          <a:lstStyle/>
          <a:p>
            <a:pPr>
              <a:lnSpc>
                <a:spcPct val="150000"/>
              </a:lnSpc>
            </a:pPr>
            <a:r>
              <a:rPr lang="en-US" dirty="0" smtClean="0"/>
              <a:t>The data consists of details regarding customers, products, orders and sellers on e-commerce platform.</a:t>
            </a:r>
          </a:p>
          <a:p>
            <a:pPr>
              <a:lnSpc>
                <a:spcPct val="150000"/>
              </a:lnSpc>
            </a:pPr>
            <a:r>
              <a:rPr lang="en-US" dirty="0" smtClean="0"/>
              <a:t>100000+ successful orders between 2016 and 2018 are studied.</a:t>
            </a:r>
          </a:p>
          <a:p>
            <a:pPr>
              <a:lnSpc>
                <a:spcPct val="150000"/>
              </a:lnSpc>
            </a:pPr>
            <a:r>
              <a:rPr lang="en-US" b="1" dirty="0" smtClean="0"/>
              <a:t>Goal</a:t>
            </a:r>
            <a:r>
              <a:rPr lang="en-US" dirty="0" smtClean="0"/>
              <a:t> : How e-commerce platform can increase revenue and retain customers.</a:t>
            </a:r>
            <a:endParaRPr lang="en-IN" dirty="0"/>
          </a:p>
        </p:txBody>
      </p:sp>
    </p:spTree>
    <p:extLst>
      <p:ext uri="{BB962C8B-B14F-4D97-AF65-F5344CB8AC3E}">
        <p14:creationId xmlns:p14="http://schemas.microsoft.com/office/powerpoint/2010/main" val="3900510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147365"/>
            <a:ext cx="10515600" cy="1325563"/>
          </a:xfrm>
        </p:spPr>
        <p:txBody>
          <a:bodyPr/>
          <a:lstStyle/>
          <a:p>
            <a:r>
              <a:rPr lang="en-IN" b="1" dirty="0" smtClean="0"/>
              <a:t>Tracking Sales Over Time</a:t>
            </a:r>
            <a:endParaRPr lang="en-IN" b="1" dirty="0"/>
          </a:p>
        </p:txBody>
      </p:sp>
      <p:sp>
        <p:nvSpPr>
          <p:cNvPr id="5" name="Content Placeholder 2"/>
          <p:cNvSpPr>
            <a:spLocks noGrp="1"/>
          </p:cNvSpPr>
          <p:nvPr>
            <p:ph idx="1"/>
          </p:nvPr>
        </p:nvSpPr>
        <p:spPr>
          <a:xfrm>
            <a:off x="446314" y="1472928"/>
            <a:ext cx="10515600" cy="4901746"/>
          </a:xfrm>
        </p:spPr>
        <p:txBody>
          <a:bodyPr>
            <a:noAutofit/>
          </a:bodyPr>
          <a:lstStyle/>
          <a:p>
            <a:pPr>
              <a:lnSpc>
                <a:spcPct val="100000"/>
              </a:lnSpc>
            </a:pPr>
            <a:r>
              <a:rPr lang="en-US" sz="2400" b="1" dirty="0" smtClean="0"/>
              <a:t>Key Chart </a:t>
            </a:r>
            <a:r>
              <a:rPr lang="en-US" sz="2400" dirty="0" smtClean="0"/>
              <a:t>: The line chart showing monthly sales matching by year.</a:t>
            </a:r>
          </a:p>
          <a:p>
            <a:pPr>
              <a:lnSpc>
                <a:spcPct val="100000"/>
              </a:lnSpc>
            </a:pPr>
            <a:r>
              <a:rPr lang="en-US" sz="2400" b="1" dirty="0" smtClean="0"/>
              <a:t>Insights:</a:t>
            </a:r>
          </a:p>
          <a:p>
            <a:pPr lvl="1">
              <a:lnSpc>
                <a:spcPct val="100000"/>
              </a:lnSpc>
              <a:buFont typeface="Wingdings" panose="05000000000000000000" pitchFamily="2" charset="2"/>
              <a:buChar char="Ø"/>
            </a:pPr>
            <a:r>
              <a:rPr lang="en-US" sz="2000" dirty="0" smtClean="0"/>
              <a:t>Sales in 2018 grew much faster than in 2017. By August 2018, total sales passed 7 million BRL. It took the company until December to reach that amount in 2017.</a:t>
            </a:r>
          </a:p>
          <a:p>
            <a:pPr lvl="1">
              <a:lnSpc>
                <a:spcPct val="100000"/>
              </a:lnSpc>
              <a:buFont typeface="Wingdings" panose="05000000000000000000" pitchFamily="2" charset="2"/>
              <a:buChar char="Ø"/>
            </a:pPr>
            <a:r>
              <a:rPr lang="en-US" sz="2000" dirty="0" smtClean="0"/>
              <a:t>The flat line at the end of 2018 just means the file stops tracking data in August, not that people stopped buying things.</a:t>
            </a:r>
          </a:p>
          <a:p>
            <a:pPr>
              <a:lnSpc>
                <a:spcPct val="100000"/>
              </a:lnSpc>
            </a:pPr>
            <a:r>
              <a:rPr lang="en-US" sz="2400" b="1" dirty="0" smtClean="0"/>
              <a:t>Action:</a:t>
            </a:r>
          </a:p>
          <a:p>
            <a:pPr marL="0" indent="0">
              <a:lnSpc>
                <a:spcPct val="100000"/>
              </a:lnSpc>
              <a:buNone/>
            </a:pPr>
            <a:r>
              <a:rPr lang="en-US" sz="2400" dirty="0" smtClean="0"/>
              <a:t>The business is growing fast every month. Company needs to make sure their servers and staff are ready to handle more orders.</a:t>
            </a:r>
            <a:endParaRPr lang="en-IN" sz="2400" dirty="0"/>
          </a:p>
        </p:txBody>
      </p:sp>
    </p:spTree>
    <p:extLst>
      <p:ext uri="{BB962C8B-B14F-4D97-AF65-F5344CB8AC3E}">
        <p14:creationId xmlns:p14="http://schemas.microsoft.com/office/powerpoint/2010/main" val="1082628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US" b="1" dirty="0" smtClean="0"/>
              <a:t>Top revenue generating products</a:t>
            </a:r>
            <a:endParaRPr lang="en-IN" b="1" dirty="0"/>
          </a:p>
        </p:txBody>
      </p:sp>
      <p:sp>
        <p:nvSpPr>
          <p:cNvPr id="3" name="Content Placeholder 2"/>
          <p:cNvSpPr>
            <a:spLocks noGrp="1"/>
          </p:cNvSpPr>
          <p:nvPr>
            <p:ph idx="1"/>
          </p:nvPr>
        </p:nvSpPr>
        <p:spPr>
          <a:xfrm>
            <a:off x="838200" y="1325562"/>
            <a:ext cx="10515600" cy="5532437"/>
          </a:xfrm>
        </p:spPr>
        <p:txBody>
          <a:bodyPr>
            <a:noAutofit/>
          </a:bodyPr>
          <a:lstStyle/>
          <a:p>
            <a:pPr>
              <a:lnSpc>
                <a:spcPct val="100000"/>
              </a:lnSpc>
            </a:pPr>
            <a:r>
              <a:rPr lang="en-US" sz="2400" b="1" dirty="0" smtClean="0"/>
              <a:t>Key Chart </a:t>
            </a:r>
            <a:r>
              <a:rPr lang="en-US" sz="2400" dirty="0" smtClean="0"/>
              <a:t>: The bar chart showing top products.</a:t>
            </a:r>
          </a:p>
          <a:p>
            <a:pPr>
              <a:lnSpc>
                <a:spcPct val="100000"/>
              </a:lnSpc>
            </a:pPr>
            <a:r>
              <a:rPr lang="en-US" sz="2400" b="1" dirty="0" smtClean="0"/>
              <a:t>Insights</a:t>
            </a:r>
            <a:r>
              <a:rPr lang="en-US" sz="2400" dirty="0" smtClean="0"/>
              <a:t>:</a:t>
            </a:r>
          </a:p>
          <a:p>
            <a:pPr lvl="1">
              <a:lnSpc>
                <a:spcPct val="100000"/>
              </a:lnSpc>
              <a:buFont typeface="Wingdings" panose="05000000000000000000" pitchFamily="2" charset="2"/>
              <a:buChar char="Ø"/>
            </a:pPr>
            <a:r>
              <a:rPr lang="en-US" sz="2000" b="1" dirty="0" smtClean="0"/>
              <a:t>Health Beauty Wins </a:t>
            </a:r>
            <a:r>
              <a:rPr lang="en-US" sz="2000" dirty="0" smtClean="0"/>
              <a:t>: This is #1 category on the platform, bringing in </a:t>
            </a:r>
            <a:r>
              <a:rPr lang="en-US" sz="2000" b="1" dirty="0" smtClean="0"/>
              <a:t>9.4% of total revenue</a:t>
            </a:r>
            <a:r>
              <a:rPr lang="en-US" sz="2000" dirty="0" smtClean="0"/>
              <a:t>.</a:t>
            </a:r>
          </a:p>
          <a:p>
            <a:pPr lvl="1">
              <a:lnSpc>
                <a:spcPct val="100000"/>
              </a:lnSpc>
              <a:buFont typeface="Wingdings" panose="05000000000000000000" pitchFamily="2" charset="2"/>
              <a:buChar char="Ø"/>
            </a:pPr>
            <a:r>
              <a:rPr lang="en-US" sz="2000" b="1" dirty="0" smtClean="0"/>
              <a:t>Top 3 pillars</a:t>
            </a:r>
            <a:r>
              <a:rPr lang="en-US" sz="2000" dirty="0" smtClean="0"/>
              <a:t>: Health Beauty (</a:t>
            </a:r>
            <a:r>
              <a:rPr lang="en-US" sz="2000" b="1" dirty="0" smtClean="0"/>
              <a:t>9.4%</a:t>
            </a:r>
            <a:r>
              <a:rPr lang="en-US" sz="2000" dirty="0" smtClean="0"/>
              <a:t>), Watches &amp; Present (</a:t>
            </a:r>
            <a:r>
              <a:rPr lang="en-US" sz="2000" b="1" dirty="0" smtClean="0"/>
              <a:t>9.0%</a:t>
            </a:r>
            <a:r>
              <a:rPr lang="en-US" sz="2000" dirty="0" smtClean="0"/>
              <a:t>) and Bed Table Bath (</a:t>
            </a:r>
            <a:r>
              <a:rPr lang="en-US" sz="2000" b="1" dirty="0" smtClean="0"/>
              <a:t>7.7%</a:t>
            </a:r>
            <a:r>
              <a:rPr lang="en-US" sz="2000" dirty="0" smtClean="0"/>
              <a:t>) make up over </a:t>
            </a:r>
            <a:r>
              <a:rPr lang="en-US" sz="2000" b="1" dirty="0" smtClean="0"/>
              <a:t>26% of all sales</a:t>
            </a:r>
            <a:r>
              <a:rPr lang="en-US" sz="2000" dirty="0" smtClean="0"/>
              <a:t>.</a:t>
            </a:r>
          </a:p>
          <a:p>
            <a:pPr lvl="1">
              <a:lnSpc>
                <a:spcPct val="100000"/>
              </a:lnSpc>
              <a:buFont typeface="Wingdings" panose="05000000000000000000" pitchFamily="2" charset="2"/>
              <a:buChar char="Ø"/>
            </a:pPr>
            <a:r>
              <a:rPr lang="en-US" sz="2000" dirty="0" smtClean="0"/>
              <a:t>Top 10 categories alone make up more than </a:t>
            </a:r>
            <a:r>
              <a:rPr lang="en-US" sz="2000" b="1" dirty="0" smtClean="0"/>
              <a:t>63%</a:t>
            </a:r>
            <a:r>
              <a:rPr lang="en-US" sz="2000" dirty="0" smtClean="0"/>
              <a:t> of all sales.</a:t>
            </a:r>
          </a:p>
          <a:p>
            <a:pPr>
              <a:lnSpc>
                <a:spcPct val="100000"/>
              </a:lnSpc>
            </a:pPr>
            <a:r>
              <a:rPr lang="en-US" sz="2400" b="1" dirty="0" smtClean="0"/>
              <a:t>Action</a:t>
            </a:r>
            <a:r>
              <a:rPr lang="en-US" sz="2400" dirty="0" smtClean="0"/>
              <a:t>:</a:t>
            </a:r>
          </a:p>
          <a:p>
            <a:pPr marL="0" indent="0">
              <a:lnSpc>
                <a:spcPct val="100000"/>
              </a:lnSpc>
              <a:buNone/>
            </a:pPr>
            <a:r>
              <a:rPr lang="en-US" sz="2400" dirty="0" smtClean="0"/>
              <a:t>Spend most of the advertisement money on Health &amp; Beauty and Watches. These items are already very popular and guaranteed to make money.</a:t>
            </a:r>
            <a:endParaRPr lang="en-IN" sz="2400" dirty="0" smtClean="0"/>
          </a:p>
          <a:p>
            <a:endParaRPr lang="en-IN" sz="2400" dirty="0"/>
          </a:p>
        </p:txBody>
      </p:sp>
    </p:spTree>
    <p:extLst>
      <p:ext uri="{BB962C8B-B14F-4D97-AF65-F5344CB8AC3E}">
        <p14:creationId xmlns:p14="http://schemas.microsoft.com/office/powerpoint/2010/main" val="3104244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8911687" cy="1280890"/>
          </a:xfrm>
        </p:spPr>
        <p:txBody>
          <a:bodyPr>
            <a:normAutofit/>
          </a:bodyPr>
          <a:lstStyle/>
          <a:p>
            <a:r>
              <a:rPr lang="en-US" b="1" dirty="0" smtClean="0"/>
              <a:t>Does lowering prices help sell more?</a:t>
            </a:r>
            <a:endParaRPr lang="en-IN" b="1" dirty="0"/>
          </a:p>
        </p:txBody>
      </p:sp>
      <p:sp>
        <p:nvSpPr>
          <p:cNvPr id="3" name="Content Placeholder 2"/>
          <p:cNvSpPr>
            <a:spLocks noGrp="1"/>
          </p:cNvSpPr>
          <p:nvPr>
            <p:ph idx="1"/>
          </p:nvPr>
        </p:nvSpPr>
        <p:spPr>
          <a:xfrm>
            <a:off x="838200" y="1799499"/>
            <a:ext cx="10515600" cy="4351338"/>
          </a:xfrm>
        </p:spPr>
        <p:txBody>
          <a:bodyPr>
            <a:noAutofit/>
          </a:bodyPr>
          <a:lstStyle/>
          <a:p>
            <a:pPr>
              <a:lnSpc>
                <a:spcPct val="100000"/>
              </a:lnSpc>
            </a:pPr>
            <a:r>
              <a:rPr lang="en-US" sz="2400" b="1" dirty="0" smtClean="0"/>
              <a:t>Key Chart </a:t>
            </a:r>
            <a:r>
              <a:rPr lang="en-US" sz="2400" dirty="0" smtClean="0"/>
              <a:t>: The scatter plot showing price vs sales volume.</a:t>
            </a:r>
          </a:p>
          <a:p>
            <a:pPr>
              <a:lnSpc>
                <a:spcPct val="100000"/>
              </a:lnSpc>
            </a:pPr>
            <a:r>
              <a:rPr lang="en-US" sz="2400" b="1" dirty="0" smtClean="0"/>
              <a:t>Insights</a:t>
            </a:r>
            <a:r>
              <a:rPr lang="en-US" sz="2400" dirty="0" smtClean="0"/>
              <a:t>:</a:t>
            </a:r>
          </a:p>
          <a:p>
            <a:pPr lvl="1">
              <a:lnSpc>
                <a:spcPct val="100000"/>
              </a:lnSpc>
              <a:buFont typeface="Wingdings" panose="05000000000000000000" pitchFamily="2" charset="2"/>
              <a:buChar char="Ø"/>
            </a:pPr>
            <a:r>
              <a:rPr lang="en-US" sz="2000" dirty="0" smtClean="0"/>
              <a:t>Pearson is -0.033 and Spearman is -0.064, which is almost 0.</a:t>
            </a:r>
          </a:p>
          <a:p>
            <a:pPr lvl="1">
              <a:lnSpc>
                <a:spcPct val="100000"/>
              </a:lnSpc>
              <a:buFont typeface="Wingdings" panose="05000000000000000000" pitchFamily="2" charset="2"/>
              <a:buChar char="Ø"/>
            </a:pPr>
            <a:r>
              <a:rPr lang="en-US" sz="2000" b="1" dirty="0" smtClean="0"/>
              <a:t>Price does not matter</a:t>
            </a:r>
            <a:r>
              <a:rPr lang="en-US" sz="2000" dirty="0" smtClean="0"/>
              <a:t>: Lowering the price does not make people buy an item more often. Cheap items do not sell faster than expensive items.</a:t>
            </a:r>
          </a:p>
          <a:p>
            <a:pPr>
              <a:lnSpc>
                <a:spcPct val="100000"/>
              </a:lnSpc>
            </a:pPr>
            <a:r>
              <a:rPr lang="en-US" sz="2400" b="1" dirty="0" smtClean="0"/>
              <a:t>Action</a:t>
            </a:r>
            <a:r>
              <a:rPr lang="en-US" sz="2400" dirty="0" smtClean="0"/>
              <a:t>:</a:t>
            </a:r>
          </a:p>
          <a:p>
            <a:pPr marL="0" indent="0">
              <a:lnSpc>
                <a:spcPct val="100000"/>
              </a:lnSpc>
              <a:buNone/>
            </a:pPr>
            <a:r>
              <a:rPr lang="en-US" sz="2400" dirty="0" smtClean="0"/>
              <a:t>Suggest sellers to stop cutting their prices to beat competitors. Instead, they should keep their prices fair to protect their profits</a:t>
            </a:r>
            <a:r>
              <a:rPr lang="en-US" sz="2400" dirty="0"/>
              <a:t> </a:t>
            </a:r>
            <a:r>
              <a:rPr lang="en-US" sz="2400" dirty="0" smtClean="0"/>
              <a:t>and focus on getting good customer reviews and fast shipping. </a:t>
            </a:r>
            <a:endParaRPr lang="en-IN" sz="2400" dirty="0"/>
          </a:p>
        </p:txBody>
      </p:sp>
    </p:spTree>
    <p:extLst>
      <p:ext uri="{BB962C8B-B14F-4D97-AF65-F5344CB8AC3E}">
        <p14:creationId xmlns:p14="http://schemas.microsoft.com/office/powerpoint/2010/main" val="2337061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138" y="0"/>
            <a:ext cx="10515600" cy="1325563"/>
          </a:xfrm>
        </p:spPr>
        <p:txBody>
          <a:bodyPr>
            <a:normAutofit/>
          </a:bodyPr>
          <a:lstStyle/>
          <a:p>
            <a:r>
              <a:rPr lang="en-US" sz="4000" b="1" dirty="0" smtClean="0"/>
              <a:t>Why Customers Don't Come Back?</a:t>
            </a:r>
            <a:endParaRPr lang="en-IN" sz="4000" b="1" dirty="0"/>
          </a:p>
        </p:txBody>
      </p:sp>
      <p:sp>
        <p:nvSpPr>
          <p:cNvPr id="3" name="Content Placeholder 2"/>
          <p:cNvSpPr>
            <a:spLocks noGrp="1"/>
          </p:cNvSpPr>
          <p:nvPr>
            <p:ph idx="1"/>
          </p:nvPr>
        </p:nvSpPr>
        <p:spPr>
          <a:xfrm>
            <a:off x="733697" y="1159420"/>
            <a:ext cx="10515600" cy="5999026"/>
          </a:xfrm>
        </p:spPr>
        <p:txBody>
          <a:bodyPr>
            <a:noAutofit/>
          </a:bodyPr>
          <a:lstStyle/>
          <a:p>
            <a:pPr>
              <a:lnSpc>
                <a:spcPct val="100000"/>
              </a:lnSpc>
            </a:pPr>
            <a:r>
              <a:rPr lang="en-US" sz="2400" b="1" dirty="0" smtClean="0"/>
              <a:t>Key Chart </a:t>
            </a:r>
            <a:r>
              <a:rPr lang="en-US" sz="2400" dirty="0" smtClean="0"/>
              <a:t>: The pie chart showing retention.</a:t>
            </a:r>
          </a:p>
          <a:p>
            <a:pPr>
              <a:lnSpc>
                <a:spcPct val="100000"/>
              </a:lnSpc>
            </a:pPr>
            <a:r>
              <a:rPr lang="en-US" sz="2400" b="1" dirty="0" smtClean="0"/>
              <a:t>Insights</a:t>
            </a:r>
            <a:r>
              <a:rPr lang="en-US" sz="2400" dirty="0" smtClean="0"/>
              <a:t>:</a:t>
            </a:r>
          </a:p>
          <a:p>
            <a:pPr lvl="1">
              <a:lnSpc>
                <a:spcPct val="100000"/>
              </a:lnSpc>
              <a:buFont typeface="Wingdings" panose="05000000000000000000" pitchFamily="2" charset="2"/>
              <a:buChar char="Ø"/>
            </a:pPr>
            <a:r>
              <a:rPr lang="en-US" sz="2000" dirty="0" smtClean="0"/>
              <a:t>One-and-Done: 98.38% of customers buy something once and never return. Only 1.62% of people buy a second time within 6 months.</a:t>
            </a:r>
          </a:p>
          <a:p>
            <a:pPr lvl="1">
              <a:lnSpc>
                <a:spcPct val="100000"/>
              </a:lnSpc>
              <a:buFont typeface="Wingdings" panose="05000000000000000000" pitchFamily="2" charset="2"/>
              <a:buChar char="Ø"/>
            </a:pPr>
            <a:r>
              <a:rPr lang="en-US" sz="2000" dirty="0" smtClean="0"/>
              <a:t>When people buy, they think they are buying from the giant department store website. They usually do not see the name of seller so they do not become loyal to seller.</a:t>
            </a:r>
          </a:p>
          <a:p>
            <a:pPr>
              <a:lnSpc>
                <a:spcPct val="100000"/>
              </a:lnSpc>
            </a:pPr>
            <a:r>
              <a:rPr lang="en-US" sz="2400" b="1" dirty="0" smtClean="0"/>
              <a:t>Action</a:t>
            </a:r>
            <a:r>
              <a:rPr lang="en-US" sz="2400" dirty="0" smtClean="0"/>
              <a:t>:</a:t>
            </a:r>
          </a:p>
          <a:p>
            <a:pPr marL="0" indent="0">
              <a:lnSpc>
                <a:spcPct val="100000"/>
              </a:lnSpc>
              <a:buNone/>
            </a:pPr>
            <a:r>
              <a:rPr lang="en-US" sz="2400" dirty="0" smtClean="0"/>
              <a:t>Start sending follow-up emails with discount coupons a few months after a purchase, put physical discount codes inside the shipping boxes to invite buyers back for second order. </a:t>
            </a:r>
            <a:endParaRPr lang="en-IN" sz="2400" dirty="0"/>
          </a:p>
        </p:txBody>
      </p:sp>
    </p:spTree>
    <p:extLst>
      <p:ext uri="{BB962C8B-B14F-4D97-AF65-F5344CB8AC3E}">
        <p14:creationId xmlns:p14="http://schemas.microsoft.com/office/powerpoint/2010/main" val="656752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138" y="0"/>
            <a:ext cx="10515600" cy="1325563"/>
          </a:xfrm>
        </p:spPr>
        <p:txBody>
          <a:bodyPr>
            <a:normAutofit/>
          </a:bodyPr>
          <a:lstStyle/>
          <a:p>
            <a:r>
              <a:rPr lang="en-US" sz="4000" b="1" dirty="0" smtClean="0"/>
              <a:t>Summary and Recommendations</a:t>
            </a:r>
            <a:endParaRPr lang="en-IN" sz="4000" b="1" dirty="0"/>
          </a:p>
        </p:txBody>
      </p:sp>
      <p:sp>
        <p:nvSpPr>
          <p:cNvPr id="3" name="Content Placeholder 2"/>
          <p:cNvSpPr>
            <a:spLocks noGrp="1"/>
          </p:cNvSpPr>
          <p:nvPr>
            <p:ph idx="1"/>
          </p:nvPr>
        </p:nvSpPr>
        <p:spPr>
          <a:xfrm>
            <a:off x="733697" y="1159420"/>
            <a:ext cx="10515600" cy="5999026"/>
          </a:xfrm>
        </p:spPr>
        <p:txBody>
          <a:bodyPr>
            <a:noAutofit/>
          </a:bodyPr>
          <a:lstStyle/>
          <a:p>
            <a:pPr>
              <a:lnSpc>
                <a:spcPct val="150000"/>
              </a:lnSpc>
            </a:pPr>
            <a:r>
              <a:rPr lang="en-US" sz="2400" b="1" dirty="0" smtClean="0"/>
              <a:t>Focus on Winners </a:t>
            </a:r>
            <a:r>
              <a:rPr lang="en-US" sz="2400" dirty="0" smtClean="0"/>
              <a:t>: Keep supporting Health &amp; Beauty category because it is main money-maker.</a:t>
            </a:r>
          </a:p>
          <a:p>
            <a:pPr>
              <a:lnSpc>
                <a:spcPct val="150000"/>
              </a:lnSpc>
            </a:pPr>
            <a:r>
              <a:rPr lang="en-US" sz="2400" b="1" dirty="0" smtClean="0"/>
              <a:t>Stop Cheap Discounts</a:t>
            </a:r>
            <a:r>
              <a:rPr lang="en-US" sz="2400" dirty="0" smtClean="0"/>
              <a:t>: Teach sellers to win customers with high quality and good service not by lowering prices.</a:t>
            </a:r>
          </a:p>
          <a:p>
            <a:pPr>
              <a:lnSpc>
                <a:spcPct val="150000"/>
              </a:lnSpc>
            </a:pPr>
            <a:r>
              <a:rPr lang="en-US" sz="2400" b="1" dirty="0" smtClean="0"/>
              <a:t>Bring Buyers Back</a:t>
            </a:r>
            <a:r>
              <a:rPr lang="en-US" sz="2400" dirty="0" smtClean="0"/>
              <a:t>: Use email coupons and box inserts to change “one-time buyers” into repeat customers.</a:t>
            </a:r>
          </a:p>
        </p:txBody>
      </p:sp>
    </p:spTree>
    <p:extLst>
      <p:ext uri="{BB962C8B-B14F-4D97-AF65-F5344CB8AC3E}">
        <p14:creationId xmlns:p14="http://schemas.microsoft.com/office/powerpoint/2010/main" val="416795216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61</TotalTime>
  <Words>542</Words>
  <Application>Microsoft Office PowerPoint</Application>
  <PresentationFormat>Widescreen</PresentationFormat>
  <Paragraphs>40</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Century Gothic</vt:lpstr>
      <vt:lpstr>Wingdings</vt:lpstr>
      <vt:lpstr>Wingdings 3</vt:lpstr>
      <vt:lpstr>Wisp</vt:lpstr>
      <vt:lpstr>Navigating The Future Of  Online Shopping</vt:lpstr>
      <vt:lpstr>Project Overview</vt:lpstr>
      <vt:lpstr>Tracking Sales Over Time</vt:lpstr>
      <vt:lpstr>Top revenue generating products</vt:lpstr>
      <vt:lpstr>Does lowering prices help sell more?</vt:lpstr>
      <vt:lpstr>Why Customers Don't Come Back?</vt:lpstr>
      <vt:lpstr>Summary and Recommendations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Navigating The Future Of Online Shopping</dc:title>
  <dc:creator>Microsoft account</dc:creator>
  <cp:lastModifiedBy>Microsoft account</cp:lastModifiedBy>
  <cp:revision>27</cp:revision>
  <dcterms:created xsi:type="dcterms:W3CDTF">2026-06-20T09:12:46Z</dcterms:created>
  <dcterms:modified xsi:type="dcterms:W3CDTF">2026-06-20T10:14:21Z</dcterms:modified>
</cp:coreProperties>
</file>